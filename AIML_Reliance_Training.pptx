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13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-1371600"/>
            <a:ext cx="4572000" cy="45720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926080" cy="329184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BFDBFE"/>
                </a:solidFill>
              </a:rPr>
              <a:t>RELIANCE INDUSTRIES — LEARNING &amp; DEVELOPMENT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for Reliance employees — What it is, how it works,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powers Jio, Retail, Energy &amp; beyond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</a:rPr>
              <a:t>12 SLIDES  ·  BEGINNER TO INTERMEDIATE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20840" y="9509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157276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21945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8163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343814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40599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3C5FD"/>
                </a:solidFill>
              </a:rPr>
              <a:t>WHAT WE WILL COVER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07592"/>
            <a:ext cx="475488" cy="475488"/>
          </a:xfrm>
          <a:prstGeom prst="ellipse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AI, ML &amp; Deep Learning?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differences, the big picture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307592"/>
            <a:ext cx="475488" cy="475488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Family Tree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splits into ML and Deep Learning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4300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43000"/>
            <a:ext cx="278892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307592"/>
            <a:ext cx="475488" cy="475488"/>
          </a:xfrm>
          <a:prstGeom prst="ellipse">
            <a:avLst/>
          </a:prstGeom>
          <a:solidFill>
            <a:srgbClr val="EDE9FE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8928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Reinforcement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2788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44952"/>
            <a:ext cx="475488" cy="475488"/>
          </a:xfrm>
          <a:prstGeom prst="ellipse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6301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Linear Regression to Transformers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88036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880360"/>
            <a:ext cx="2788920" cy="73152"/>
          </a:xfrm>
          <a:prstGeom prst="rect">
            <a:avLst/>
          </a:prstGeom>
          <a:solidFill>
            <a:srgbClr val="DC4C4C"/>
          </a:solidFill>
          <a:ln w="12700">
            <a:solidFill>
              <a:srgbClr val="DC4C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3044952"/>
            <a:ext cx="475488" cy="475488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4C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4C4C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7764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Tools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6301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ecosystem for AI/ML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88036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2880360"/>
            <a:ext cx="278892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3044952"/>
            <a:ext cx="475488" cy="47548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Pipeline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6301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process every project follows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AI, ML &amp; Deep Learning?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78892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298448"/>
            <a:ext cx="960120" cy="960120"/>
          </a:xfrm>
          <a:prstGeom prst="ellipse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298448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3192" y="2331720"/>
            <a:ext cx="438912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331720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23317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</a:rPr>
              <a:t>The broadest field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29718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technique that allows machines to mimic human intelligence — reasoning, problem-solving, perception, and language understanding.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4300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298448"/>
            <a:ext cx="960120" cy="96012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298448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364992" y="2331720"/>
            <a:ext cx="438912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331720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23317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64992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A subset of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9718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learn patterns from data and improve over time — without being explicitly programmed for every rule.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14300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143000"/>
            <a:ext cx="27889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298448"/>
            <a:ext cx="960120" cy="960120"/>
          </a:xfrm>
          <a:prstGeom prst="ellipse">
            <a:avLst/>
          </a:prstGeom>
          <a:solidFill>
            <a:srgbClr val="EDE9FE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298448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336792" y="2331720"/>
            <a:ext cx="438912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331720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DL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36792" y="23317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6792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A subset of 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36792" y="29718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neural networks that find patterns automatically. Powers ChatGPT, Google Translate, face unlock, and medical imaging.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709160"/>
            <a:ext cx="86868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Every Deep Learning model is an ML model. Every ML model is a form of AI. They are nested — not competing.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01 — CONTINUED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Traditional Programming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solidFill>
            <a:srgbClr val="DC4C4C"/>
          </a:solidFill>
          <a:ln w="12700">
            <a:solidFill>
              <a:srgbClr val="DC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Traditional Programming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Input: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  +  Rules (written by developer)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Output: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Answers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657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 developer manually writes every IF-ELSE rule.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The computer follows instructions exactly.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No learning. No adaptation.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3566160" cy="822960"/>
          </a:xfrm>
          <a:prstGeom prst="rect">
            <a:avLst/>
          </a:prstGeom>
          <a:solidFill>
            <a:srgbClr val="FFF1F1"/>
          </a:solidFill>
          <a:ln w="12700">
            <a:solidFill>
              <a:srgbClr val="DC4C4C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93008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temperature &gt; 40°C → send alert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pressure &gt; 120 bar → trigger shutdown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1737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Input: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1737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  +  Correct Answers (examples)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Output: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Rules (learned by the machine!)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423160"/>
            <a:ext cx="3657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57860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The machine discovers rules by studying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thousands of examples. It improves the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more data it sees.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429000"/>
            <a:ext cx="35661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93008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Train on 10,000 sensor readings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 learns failure patterns on its 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2651760"/>
            <a:ext cx="548640" cy="256032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651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Family Tree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017520" y="1143000"/>
            <a:ext cx="3108960" cy="594360"/>
          </a:xfrm>
          <a:prstGeom prst="rect">
            <a:avLst/>
          </a:prstGeom>
          <a:solidFill>
            <a:srgbClr val="0A1F5C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143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Artificial Intelligence (AI)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057400"/>
            <a:ext cx="5212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2057400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057400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50008"/>
            <a:ext cx="24688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3500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350008"/>
            <a:ext cx="2468880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3500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54680"/>
            <a:ext cx="26151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383280"/>
            <a:ext cx="91440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Supervised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154680"/>
            <a:ext cx="26151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72768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" y="3383280"/>
            <a:ext cx="91440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Unsupervised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154680"/>
            <a:ext cx="26151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7168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9968" y="3383280"/>
            <a:ext cx="91440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29968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Reinforcement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7804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16168" y="3154680"/>
            <a:ext cx="3291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9904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7568" y="3383280"/>
            <a:ext cx="804672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3383280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CNN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7804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16168" y="3154680"/>
            <a:ext cx="3291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94576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3383280"/>
            <a:ext cx="804672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383280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RNN/LSTM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16168" y="3154680"/>
            <a:ext cx="3291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9248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96912" y="3383280"/>
            <a:ext cx="804672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3383280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Transformer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78040" y="289864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16168" y="3154680"/>
            <a:ext cx="3291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03920" y="315468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01584" y="3383280"/>
            <a:ext cx="804672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01584" y="3383280"/>
            <a:ext cx="804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GAN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" y="3931920"/>
            <a:ext cx="1508760" cy="182880"/>
          </a:xfrm>
          <a:prstGeom prst="rect">
            <a:avLst/>
          </a:prstGeom>
          <a:solidFill>
            <a:srgbClr val="0A1F5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931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965960" y="3931920"/>
            <a:ext cx="2468880" cy="182880"/>
          </a:xfrm>
          <a:prstGeom prst="rect">
            <a:avLst/>
          </a:prstGeom>
          <a:solidFill>
            <a:srgbClr val="0A1F5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0" y="39319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80560" y="3931920"/>
            <a:ext cx="2468880" cy="182880"/>
          </a:xfrm>
          <a:prstGeom prst="rect">
            <a:avLst/>
          </a:prstGeom>
          <a:solidFill>
            <a:srgbClr val="0A1F5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26280" y="39319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Deep Learning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4114800"/>
            <a:ext cx="15087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1148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Data needed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965960" y="4114800"/>
            <a:ext cx="2468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1680" y="41148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Moderate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80560" y="4114800"/>
            <a:ext cx="2468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41148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</a:rPr>
              <a:t>Very Large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28600" y="4297680"/>
            <a:ext cx="15087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2976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965960" y="4297680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429768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Manual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480560" y="4297680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429768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</a:rPr>
              <a:t>Automatic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8600" y="4480560"/>
            <a:ext cx="15087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480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965960" y="4480560"/>
            <a:ext cx="2468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11680" y="44805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High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480560" y="4480560"/>
            <a:ext cx="2468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26280" y="44805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</a:rPr>
              <a:t>Low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8600" y="4663440"/>
            <a:ext cx="15087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6634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Compute power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965960" y="4663440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11680" y="4663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CPU works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480560" y="4663440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26280" y="4663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</a:rPr>
              <a:t>Needs GPU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28600" y="4846320"/>
            <a:ext cx="15087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8463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Best for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965960" y="4846320"/>
            <a:ext cx="2468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1680" y="4846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Tabular / structured data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480560" y="4846320"/>
            <a:ext cx="2468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26280" y="4846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28D9"/>
                </a:solidFill>
              </a:rPr>
              <a:t>Images, Speech, Text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83464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234440"/>
            <a:ext cx="822960" cy="822960"/>
          </a:xfrm>
          <a:prstGeom prst="ellipse">
            <a:avLst/>
          </a:prstGeom>
          <a:solidFill>
            <a:srgbClr val="DBEAF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633472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data — each input is paired with the correct output. Like a student studying with an answer key.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10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A56DB"/>
                </a:solidFill>
              </a:rPr>
              <a:t>BEST FOR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36210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0965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pass/fail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33425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97280"/>
            <a:ext cx="28346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234440"/>
            <a:ext cx="822960" cy="822960"/>
          </a:xfrm>
          <a:prstGeom prst="ellipse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64992" y="2633472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unlabelled data — finds hidden patterns and natural groupings without any answer key.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33756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410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97706"/>
                </a:solidFill>
              </a:rPr>
              <a:t>BEST FOR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83280" y="36210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8587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fraud detection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40965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33425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09728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09728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78040" y="1234440"/>
            <a:ext cx="822960" cy="82296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0936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36792" y="2633472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trial and error, receiving rewards for good decisions and penalties for bad ones. Like training a dog.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33756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410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D9488"/>
                </a:solidFill>
              </a:rPr>
              <a:t>BEST FOR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5080" y="36210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8587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control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40965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optimisation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433425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 in ML &amp; Deep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2743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3C5FD"/>
                </a:solidFill>
              </a:rPr>
              <a:t>Algorithm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051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3C5FD"/>
                </a:solidFill>
              </a:rPr>
              <a:t>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3C5FD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3C5FD"/>
                </a:solidFill>
              </a:rPr>
              <a:t>Best For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25880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Linear Regression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408176"/>
            <a:ext cx="11430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40817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6DB"/>
                </a:solidFill>
              </a:rPr>
              <a:t>Supervised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93008" y="13258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line through data to predict numeric values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19088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price forecasting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696212"/>
            <a:ext cx="8686800" cy="365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962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1778508"/>
            <a:ext cx="11430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77850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6DB"/>
                </a:solidFill>
              </a:rPr>
              <a:t>Supervised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3008" y="16962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probability of a class (yes/no)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16962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churn prediction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066544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0665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Decision Tree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2148840"/>
            <a:ext cx="11430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1488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6DB"/>
                </a:solidFill>
              </a:rPr>
              <a:t>Supervised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93008" y="206654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of if-else questions on features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19088" y="20665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approvals, diagnostics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436876"/>
            <a:ext cx="8686800" cy="365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4368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2519172"/>
            <a:ext cx="11430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5191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6DB"/>
                </a:solidFill>
              </a:rPr>
              <a:t>Supervised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93008" y="243687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many decision trees — averages results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19088" y="24368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scoring, quality control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2807208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07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XGBoost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0" y="2889504"/>
            <a:ext cx="11430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288950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6DB"/>
                </a:solidFill>
              </a:rPr>
              <a:t>Supervised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93008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sequentially, each fixes prior errors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19088" y="2807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champion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177540"/>
            <a:ext cx="8686800" cy="365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1775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K-Means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3259836"/>
            <a:ext cx="1143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32598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Unsupervised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93008" y="31775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data into K clusters by similarity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19088" y="31775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3547872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47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Neural Network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0" y="3630168"/>
            <a:ext cx="11430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36301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</a:rPr>
              <a:t>Deep Learning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493008" y="35478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interconnected nodes mimicking the brain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19088" y="35478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pattern recognition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3918204"/>
            <a:ext cx="8686800" cy="365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9182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CNN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0" y="4000500"/>
            <a:ext cx="11430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400050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</a:rPr>
              <a:t>Deep Learning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493008" y="39182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filters detect edges and shapes in images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19088" y="39182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defect detection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28600" y="4288536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2885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LSTM / RNN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86000" y="4370832"/>
            <a:ext cx="11430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0" y="43708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</a:rPr>
              <a:t>Deep Learning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493008" y="428853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cells retain context in sequence data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19088" y="42885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series, speech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4658868"/>
            <a:ext cx="8686800" cy="365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6588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Transformer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0" y="4741164"/>
            <a:ext cx="11430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0" y="474116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</a:rPr>
              <a:t>Deep Learning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493008" y="46588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relates all tokens simultaneously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419088" y="46588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translation, NLP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&amp;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📊  DATA &amp; VISUALISATION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8686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89888"/>
            <a:ext cx="1234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988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389888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math on arrays &amp; matrices — the foundation of all AI/ML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609344"/>
            <a:ext cx="86868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609344"/>
            <a:ext cx="1234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0934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1609344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 &amp; transform tables (DataFrames) — like Excel in 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828800"/>
            <a:ext cx="8686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828800"/>
            <a:ext cx="1234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2880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182880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Plots, histograms, charts for exploring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048256"/>
            <a:ext cx="86868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048256"/>
            <a:ext cx="1234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04825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2048256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statistical plots: heatmaps, correlations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423160"/>
            <a:ext cx="86868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423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6DB"/>
                </a:solidFill>
              </a:rPr>
              <a:t>🤖  MACHINE LEARNING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715768"/>
            <a:ext cx="8686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715768"/>
            <a:ext cx="12344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71576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2715768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ML algorithms, preprocessing, and model evaluation in one package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935224"/>
            <a:ext cx="86868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935224"/>
            <a:ext cx="12344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93522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08760" y="2935224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gradient boosting — fastest &amp; most accurate for tabular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383280"/>
            <a:ext cx="868680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383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D28D9"/>
                </a:solidFill>
              </a:rPr>
              <a:t>🧠  DEEP LEARNING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675888"/>
            <a:ext cx="8686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675888"/>
            <a:ext cx="123444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67588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508760" y="3675888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DL framework — production-grade, runs on GPU/mobile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895344"/>
            <a:ext cx="86868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895344"/>
            <a:ext cx="123444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89534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08760" y="3895344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Facebook's DL framework — preferred in research, intuitive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4114800"/>
            <a:ext cx="8686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4114800"/>
            <a:ext cx="123444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11480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508760" y="4114800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 (on TensorFlow) — build neural nets in 10 lines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334256"/>
            <a:ext cx="86868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334256"/>
            <a:ext cx="123444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33425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508760" y="4334256"/>
            <a:ext cx="7223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LLMs (BERT, GPT, LLaMA) — use AI without training from scratch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Project Pipeline — 7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1115568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2648" y="1664208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" y="2340864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predict? What's success? Wrong question = useless model.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98448" y="17190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63040" y="1097280"/>
            <a:ext cx="11155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92808" y="16642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9280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17904" y="2340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databases, APIs, sensors, forms.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78608" y="17190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1097280"/>
            <a:ext cx="11155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172968" y="16642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98064" y="2340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values, remove duplicates, correct errors.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58768" y="17190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0" y="1097280"/>
            <a:ext cx="111556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453128" y="166420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312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908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78224" y="2340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data into useful model inputs.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38928" y="17190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0" y="1097280"/>
            <a:ext cx="1115568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🏋️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733288" y="1664208"/>
            <a:ext cx="256032" cy="25603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3328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8384" y="2340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 into algorithm — machine finds patterns.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19088" y="17190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83680" y="1097280"/>
            <a:ext cx="1115568" cy="64008"/>
          </a:xfrm>
          <a:prstGeom prst="rect">
            <a:avLst/>
          </a:prstGeom>
          <a:solidFill>
            <a:srgbClr val="DC4C4C"/>
          </a:solidFill>
          <a:ln w="12700">
            <a:solidFill>
              <a:srgbClr val="DC4C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013448" y="1664208"/>
            <a:ext cx="256032" cy="256032"/>
          </a:xfrm>
          <a:prstGeom prst="ellipse">
            <a:avLst/>
          </a:prstGeom>
          <a:solidFill>
            <a:srgbClr val="DC4C4C"/>
          </a:solidFill>
          <a:ln w="12700">
            <a:solidFill>
              <a:srgbClr val="DC4C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1344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2940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Tuning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38544" y="2340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unseen data. Measure accuracy, fine-tune.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99248" y="17190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1097280"/>
            <a:ext cx="1115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863840" y="1097280"/>
            <a:ext cx="1115568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1161288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8293608" y="1664208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93608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09560" y="195681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918704" y="2340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model via API. Watch performance over time.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8600" y="292608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" y="2926080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29626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Step 4: Feature Engineering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84048" y="3218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columns (e.g. 'days since last purchase'), encode categorical values (Male/Female → 0/1), scale numbers to same range.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3593592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8600" y="3593592"/>
            <a:ext cx="64008" cy="594360"/>
          </a:xfrm>
          <a:prstGeom prst="rect">
            <a:avLst/>
          </a:prstGeom>
          <a:solidFill>
            <a:srgbClr val="DC4C4C"/>
          </a:solidFill>
          <a:ln w="12700">
            <a:solidFill>
              <a:srgbClr val="DC4C4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3630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4C4C"/>
                </a:solidFill>
              </a:rPr>
              <a:t>Step 6: Evaluation Metrics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84048" y="3886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(% correct), Precision, Recall, F1-Score (for classification) · RMSE, MAE (for regression) · AUC-ROC (for ranking models)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28600" y="4261104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" y="4261104"/>
            <a:ext cx="64008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297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Step 7: Deployment Tools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" y="45537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 (web API), Docker (containerise model), MLflow (track experiments), AWS / GCP / Azure (cloud hosting), Streamlit (quick dashboards)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Use Cases Across Reliance Group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83464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Jio Telecom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6276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(who will switch?)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9751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fault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data plan recommendations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8346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🛒  Reliance Retail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6276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&amp; inventory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9751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&amp; promotion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0972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97280"/>
            <a:ext cx="28346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Reliance Energy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16276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equipment maintenance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1928" y="19751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leak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81928" y="23225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yield optimisation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17520"/>
            <a:ext cx="2834640" cy="457200"/>
          </a:xfrm>
          <a:prstGeom prst="rect">
            <a:avLst/>
          </a:prstGeom>
          <a:solidFill>
            <a:srgbClr val="DC4C4C"/>
          </a:solidFill>
          <a:ln w="12700">
            <a:solidFill>
              <a:srgbClr val="DC4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JioCinema / Media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" y="35478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" y="389534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reviews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" y="424281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subtitle generation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175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017520"/>
            <a:ext cx="283464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🚚  Logistics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35478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route optimisation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0128" y="389534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slot prediction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0128" y="424281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scoring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301752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017520"/>
            <a:ext cx="283464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Jio Financial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81928" y="35478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81928" y="389534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assessment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424281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financial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</a:rPr>
              <a:t>YOUR NEXT STEP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Learning Path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83464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FDBFE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· Foundations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" y="1984248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0664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(variables, loops, functions)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260604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" y="25420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Pandas DataFrames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22783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" y="31638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with Matplotlib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" y="3849624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6DB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" y="37856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(mean, standard deviation)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09728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097280"/>
            <a:ext cx="28346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124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FDBFE"/>
                </a:solidFill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· Core ML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64992" y="1984248"/>
            <a:ext cx="256032" cy="25603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12464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regression &amp; classification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2606040"/>
            <a:ext cx="256032" cy="25603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12464" y="25420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(accuracy, F1, RMSE)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64992" y="3227832"/>
            <a:ext cx="256032" cy="25603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12464" y="31638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3849624"/>
            <a:ext cx="256032" cy="25603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12464" y="37856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ML project end-to-end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109728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1097280"/>
            <a:ext cx="2834640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124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FDBFE"/>
                </a:solidFill>
              </a:rPr>
              <a:t>Phase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· Specialise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6792" y="1984248"/>
            <a:ext cx="256032" cy="25603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84264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domain: NLP, Computer Vision, or Time Series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36792" y="2606040"/>
            <a:ext cx="256032" cy="25603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84264" y="25420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Keras / PyTorch basics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36792" y="3227832"/>
            <a:ext cx="256032" cy="25603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84264" y="31638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pre-trained models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36792" y="3849624"/>
            <a:ext cx="256032" cy="25603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84264" y="37856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model as a simple web app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846320"/>
            <a:ext cx="86868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D4ED8"/>
                </a:solidFill>
              </a:rPr>
              <a:t>💡  Free resources: Google's ML Crash Course, fast.ai, Coursera Machine Learning by Andrew Ng, HuggingFace Tutorials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47472" cy="34747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big umbrella · ML is learning from data · Deep Learning uses neural networks for complex tasks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47472" cy="34747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labelled data · Unsupervised = find patterns · Reinforcement = learn by reward &amp; penalty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47472" cy="34747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Scikit-learn for ML · TensorFlow / PyTorch for Deep Learning · Pandas &amp; NumPy for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47472" cy="34747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project follows 7 steps — Problem → Data → Clean → Features → Train → Evaluate → Deploy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47472" cy="347472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Jio, Retail, Energy, Media — all Reliance business units can benefit from AI/ML today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26280"/>
            <a:ext cx="84124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</a:rPr>
              <a:t>Reliance Industries — Learning &amp; Development · AI/ML Fundamentals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1423</Words>
  <Application>Microsoft Office PowerPoint</Application>
  <PresentationFormat>On-screen Show (16:9)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Machine Learning Fundamentals — Reliance Industries</dc:title>
  <dc:subject>PptxGenJS Presentation</dc:subject>
  <dc:creator>Reliance Learning &amp; Development</dc:creator>
  <cp:lastModifiedBy>Starina Phillips</cp:lastModifiedBy>
  <cp:revision>3</cp:revision>
  <dcterms:created xsi:type="dcterms:W3CDTF">2026-04-12T17:07:11Z</dcterms:created>
  <dcterms:modified xsi:type="dcterms:W3CDTF">2026-04-16T09:51:13Z</dcterms:modified>
</cp:coreProperties>
</file>