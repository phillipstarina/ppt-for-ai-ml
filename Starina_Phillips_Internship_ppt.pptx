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154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457200"/>
            <a:ext cx="6400800" cy="4617720"/>
          </a:xfrm>
          <a:prstGeom prst="rect">
            <a:avLst/>
          </a:prstGeom>
          <a:solidFill>
            <a:srgbClr val="0D2847">
              <a:alpha val="80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371600" y="457200"/>
            <a:ext cx="274320" cy="2743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457200"/>
            <a:ext cx="274320" cy="27432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6583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INTERNSHIP REPORT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71600" y="10058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Analytics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1371600" y="162763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Internship</a:t>
            </a:r>
            <a:endParaRPr lang="en-US" sz="3400" dirty="0"/>
          </a:p>
        </p:txBody>
      </p:sp>
      <p:sp>
        <p:nvSpPr>
          <p:cNvPr id="32" name="Shape 30"/>
          <p:cNvSpPr/>
          <p:nvPr/>
        </p:nvSpPr>
        <p:spPr>
          <a:xfrm>
            <a:off x="2286000" y="2304288"/>
            <a:ext cx="4572000" cy="0"/>
          </a:xfrm>
          <a:prstGeom prst="line">
            <a:avLst/>
          </a:prstGeom>
          <a:noFill/>
          <a:ln w="19050">
            <a:solidFill>
              <a:srgbClr val="FFD5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2395728"/>
            <a:ext cx="6400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Starina Phillips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371600" y="2688336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M.Tech CSE (1st Year)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645920" y="2962656"/>
            <a:ext cx="5852160" cy="438912"/>
          </a:xfrm>
          <a:prstGeom prst="rect">
            <a:avLst/>
          </a:prstGeom>
          <a:solidFill>
            <a:srgbClr val="091A30"/>
          </a:solidFill>
          <a:ln w="12700">
            <a:solidFill>
              <a:srgbClr val="1A3A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0" y="2962656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Christ University, Bangalore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80560" y="3017520"/>
            <a:ext cx="0" cy="329184"/>
          </a:xfrm>
          <a:prstGeom prst="line">
            <a:avLst/>
          </a:prstGeom>
          <a:noFill/>
          <a:ln w="12700">
            <a:solidFill>
              <a:srgbClr val="2A4A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2962656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Bangalore University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0" y="3493008"/>
            <a:ext cx="4572000" cy="0"/>
          </a:xfrm>
          <a:prstGeom prst="line">
            <a:avLst/>
          </a:prstGeom>
          <a:noFill/>
          <a:ln w="12700">
            <a:solidFill>
              <a:srgbClr val="1A3A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71600" y="3566160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Reliance Industries Limited  |  CBM Division, Shahdol, M.P.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371600" y="3803904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March 2026 – 7 April 2026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286000" y="4114800"/>
            <a:ext cx="4572000" cy="0"/>
          </a:xfrm>
          <a:prstGeom prst="line">
            <a:avLst/>
          </a:prstGeom>
          <a:noFill/>
          <a:ln w="12700">
            <a:solidFill>
              <a:srgbClr val="1A3A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0" y="4169664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300" kern="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GUIDED BY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371600" y="435254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Vivek K Agarwal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371600" y="459028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TL – Operations, RIL CBM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13232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INTERNSHIP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651760" cy="1417320"/>
          </a:xfrm>
          <a:prstGeom prst="rect">
            <a:avLst/>
          </a:prstGeom>
          <a:solidFill>
            <a:srgbClr val="0D2847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265176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24128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9768" y="1252728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Reliance Industries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1901952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CBM Division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651760" cy="1417320"/>
          </a:xfrm>
          <a:prstGeom prst="rect">
            <a:avLst/>
          </a:prstGeom>
          <a:solidFill>
            <a:srgbClr val="0D2847"/>
          </a:solidFill>
          <a:ln w="19050">
            <a:solidFill>
              <a:srgbClr val="FFD54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60120"/>
            <a:ext cx="265176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024128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10128" y="1252728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Analytics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1901952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CBM Production 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651760" cy="1417320"/>
          </a:xfrm>
          <a:prstGeom prst="rect">
            <a:avLst/>
          </a:prstGeom>
          <a:solidFill>
            <a:srgbClr val="0D2847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960120"/>
            <a:ext cx="265176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024128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90488" y="1252728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Mar – 7 Apr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0488" y="1901952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Month Internship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560320"/>
            <a:ext cx="8503920" cy="1508760"/>
          </a:xfrm>
          <a:prstGeom prst="rect">
            <a:avLst/>
          </a:prstGeom>
          <a:solidFill>
            <a:srgbClr val="112E52"/>
          </a:solidFill>
          <a:ln w="12700">
            <a:solidFill>
              <a:srgbClr val="1E407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65176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SCOPE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2889504"/>
            <a:ext cx="80467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" indent="-2540">
              <a:buSzPct val="100000"/>
              <a:buChar char="▸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on CBM production data to develop real-time monitoring dashboards</a:t>
            </a:r>
            <a:endParaRPr lang="en-US" sz="1100" dirty="0"/>
          </a:p>
          <a:p>
            <a:pPr marL="2540" indent="-2540">
              <a:buSzPct val="100000"/>
              <a:buChar char="▸"/>
            </a:pPr>
            <a:r>
              <a:rPr lang="en-US" sz="11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ML-based analytics solutions using Isolation Forest &amp; LOF algorithms</a:t>
            </a:r>
            <a:endParaRPr lang="en-US" sz="1100" dirty="0"/>
          </a:p>
          <a:p>
            <a:pPr marL="2540" indent="-2540">
              <a:buSzPct val="100000"/>
              <a:buChar char="▸"/>
            </a:pPr>
            <a:r>
              <a:rPr lang="en-US" sz="11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Created anomaly detection application with interactive GUI using Tkinter</a:t>
            </a:r>
            <a:endParaRPr lang="en-US" sz="1100" dirty="0"/>
          </a:p>
          <a:p>
            <a:pPr marL="2540" indent="-2540">
              <a:buSzPct val="100000"/>
              <a:buChar char="▸"/>
            </a:pPr>
            <a:r>
              <a:rPr lang="en-US" sz="11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Analyzed well-wise gas production vs potential to identify performance gaps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160520"/>
            <a:ext cx="4160520" cy="841248"/>
          </a:xfrm>
          <a:prstGeom prst="rect">
            <a:avLst/>
          </a:prstGeom>
          <a:solidFill>
            <a:srgbClr val="0D2847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160520"/>
            <a:ext cx="416052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22452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GUIDED BY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" y="4407408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Vivek K Agarwal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464515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TL – Operations, RIL CBM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4160520"/>
            <a:ext cx="4160520" cy="841248"/>
          </a:xfrm>
          <a:prstGeom prst="rect">
            <a:avLst/>
          </a:prstGeom>
          <a:solidFill>
            <a:srgbClr val="0D2847"/>
          </a:solidFill>
          <a:ln w="19050">
            <a:solidFill>
              <a:srgbClr val="FFD54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4160520"/>
            <a:ext cx="4160520" cy="4572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422452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46320" y="4407408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Mayank Sharma</a:t>
            </a:r>
            <a:pPr indent="0" marL="0">
              <a:buNone/>
            </a:pPr>
            <a:r>
              <a:rPr lang="en-US" sz="12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Aprajita Rajput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464515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 Team Members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13232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920240" cy="1417320"/>
          </a:xfrm>
          <a:prstGeom prst="rect">
            <a:avLst/>
          </a:prstGeom>
          <a:solidFill>
            <a:srgbClr val="0D2847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192024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124712"/>
            <a:ext cx="548640" cy="54864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197864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17373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2057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Language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651760" y="960120"/>
            <a:ext cx="1920240" cy="1417320"/>
          </a:xfrm>
          <a:prstGeom prst="rect">
            <a:avLst/>
          </a:prstGeom>
          <a:solidFill>
            <a:srgbClr val="0D2847"/>
          </a:solidFill>
          <a:ln w="19050">
            <a:solidFill>
              <a:srgbClr val="FFD54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51760" y="960120"/>
            <a:ext cx="1920240" cy="4572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37560" y="1124712"/>
            <a:ext cx="548640" cy="548640"/>
          </a:xfrm>
          <a:prstGeom prst="ellipse">
            <a:avLst/>
          </a:prstGeom>
          <a:solidFill>
            <a:srgbClr val="FFD54F">
              <a:alpha val="25000"/>
            </a:srgbClr>
          </a:solidFill>
          <a:ln w="12700">
            <a:solidFill>
              <a:srgbClr val="FFD54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197864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51760" y="17373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651760" y="2057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Processing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892040" y="960120"/>
            <a:ext cx="1920240" cy="1417320"/>
          </a:xfrm>
          <a:prstGeom prst="rect">
            <a:avLst/>
          </a:prstGeom>
          <a:solidFill>
            <a:srgbClr val="0D2847"/>
          </a:solidFill>
          <a:ln w="19050">
            <a:solidFill>
              <a:srgbClr val="7C4D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92040" y="960120"/>
            <a:ext cx="1920240" cy="4572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577840" y="1124712"/>
            <a:ext cx="548640" cy="548640"/>
          </a:xfrm>
          <a:prstGeom prst="ellipse">
            <a:avLst/>
          </a:prstGeom>
          <a:solidFill>
            <a:srgbClr val="7C4DFF">
              <a:alpha val="25000"/>
            </a:srgbClr>
          </a:solidFill>
          <a:ln w="12700">
            <a:solidFill>
              <a:srgbClr val="7C4DF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197864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92040" y="17373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892040" y="2057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7132320" y="960120"/>
            <a:ext cx="1920240" cy="1417320"/>
          </a:xfrm>
          <a:prstGeom prst="rect">
            <a:avLst/>
          </a:prstGeom>
          <a:solidFill>
            <a:srgbClr val="0D2847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132320" y="960120"/>
            <a:ext cx="192024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818120" y="1124712"/>
            <a:ext cx="548640" cy="548640"/>
          </a:xfrm>
          <a:prstGeom prst="ellipse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1197864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32320" y="17373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132320" y="2057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Visualization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11480" y="2651760"/>
            <a:ext cx="1920240" cy="1417320"/>
          </a:xfrm>
          <a:prstGeom prst="rect">
            <a:avLst/>
          </a:prstGeom>
          <a:solidFill>
            <a:srgbClr val="0D2847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11480" y="2651760"/>
            <a:ext cx="192024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097280" y="2816352"/>
            <a:ext cx="548640" cy="548640"/>
          </a:xfrm>
          <a:prstGeom prst="ellipse">
            <a:avLst/>
          </a:prstGeom>
          <a:solidFill>
            <a:srgbClr val="FF6B6B">
              <a:alpha val="25000"/>
            </a:srgbClr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2889504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11480" y="3429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OpenPyXL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11480" y="37490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 Automation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2651760" y="2651760"/>
            <a:ext cx="1920240" cy="1417320"/>
          </a:xfrm>
          <a:prstGeom prst="rect">
            <a:avLst/>
          </a:prstGeom>
          <a:solidFill>
            <a:srgbClr val="0D2847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2651760" y="2651760"/>
            <a:ext cx="192024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3337560" y="2816352"/>
            <a:ext cx="548640" cy="54864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0712" y="2889504"/>
            <a:ext cx="402336" cy="40233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2651760" y="3429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Tkinter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2651760" y="37490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 Development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4892040" y="2651760"/>
            <a:ext cx="1920240" cy="1417320"/>
          </a:xfrm>
          <a:prstGeom prst="rect">
            <a:avLst/>
          </a:prstGeom>
          <a:solidFill>
            <a:srgbClr val="0D2847"/>
          </a:solidFill>
          <a:ln w="19050">
            <a:solidFill>
              <a:srgbClr val="FFD54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892040" y="2651760"/>
            <a:ext cx="1920240" cy="4572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5577840" y="2816352"/>
            <a:ext cx="548640" cy="548640"/>
          </a:xfrm>
          <a:prstGeom prst="ellipse">
            <a:avLst/>
          </a:prstGeom>
          <a:solidFill>
            <a:srgbClr val="FFD54F">
              <a:alpha val="25000"/>
            </a:srgbClr>
          </a:solidFill>
          <a:ln w="12700">
            <a:solidFill>
              <a:srgbClr val="FFD54F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0992" y="2889504"/>
            <a:ext cx="402336" cy="402336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4892040" y="3429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4892040" y="37490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Dashboards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7132320" y="2651760"/>
            <a:ext cx="1920240" cy="1417320"/>
          </a:xfrm>
          <a:prstGeom prst="rect">
            <a:avLst/>
          </a:prstGeom>
          <a:solidFill>
            <a:srgbClr val="0D2847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7132320" y="2651760"/>
            <a:ext cx="192024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7818120" y="2816352"/>
            <a:ext cx="548640" cy="548640"/>
          </a:xfrm>
          <a:prstGeom prst="ellipse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1272" y="2889504"/>
            <a:ext cx="402336" cy="402336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7132320" y="3429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</a:t>
            </a:r>
            <a:endParaRPr lang="en-US" sz="1200" dirty="0"/>
          </a:p>
        </p:txBody>
      </p:sp>
      <p:sp>
        <p:nvSpPr>
          <p:cNvPr id="52" name="Text 42"/>
          <p:cNvSpPr/>
          <p:nvPr/>
        </p:nvSpPr>
        <p:spPr>
          <a:xfrm>
            <a:off x="7132320" y="37490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IDE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13232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PROJECTS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Deliverables Completed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3611880"/>
          </a:xfrm>
          <a:prstGeom prst="rect">
            <a:avLst/>
          </a:prstGeom>
          <a:solidFill>
            <a:srgbClr val="0D2847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27432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97280"/>
            <a:ext cx="457200" cy="457200"/>
          </a:xfrm>
          <a:prstGeom prst="rect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1115568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166420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 Production Monitoring Dashboard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" y="2423160"/>
            <a:ext cx="2468880" cy="0"/>
          </a:xfrm>
          <a:prstGeom prst="line">
            <a:avLst/>
          </a:prstGeom>
          <a:noFill/>
          <a:ln w="12700">
            <a:solidFill>
              <a:srgbClr val="1E40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2487168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time-series dashboard with well filters for tracking production trends across GGS, feeder, trunkline, and WGS levels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4048" y="4206240"/>
            <a:ext cx="804672" cy="228600"/>
          </a:xfrm>
          <a:prstGeom prst="rect">
            <a:avLst/>
          </a:prstGeom>
          <a:solidFill>
            <a:srgbClr val="00E5FF">
              <a:alpha val="25000"/>
            </a:srgbClr>
          </a:solidFill>
          <a:ln w="9525">
            <a:solidFill>
              <a:srgbClr val="00E5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4206240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1271016" y="4206240"/>
            <a:ext cx="804672" cy="228600"/>
          </a:xfrm>
          <a:prstGeom prst="rect">
            <a:avLst/>
          </a:prstGeom>
          <a:solidFill>
            <a:srgbClr val="00E5FF">
              <a:alpha val="25000"/>
            </a:srgbClr>
          </a:solidFill>
          <a:ln w="9525">
            <a:solidFill>
              <a:srgbClr val="00E5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71016" y="4206240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2157984" y="4206240"/>
            <a:ext cx="804672" cy="228600"/>
          </a:xfrm>
          <a:prstGeom prst="rect">
            <a:avLst/>
          </a:prstGeom>
          <a:solidFill>
            <a:srgbClr val="00E5FF">
              <a:alpha val="25000"/>
            </a:srgbClr>
          </a:solidFill>
          <a:ln w="9525">
            <a:solidFill>
              <a:srgbClr val="00E5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157984" y="4206240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200400" y="960120"/>
            <a:ext cx="2743200" cy="3611880"/>
          </a:xfrm>
          <a:prstGeom prst="rect">
            <a:avLst/>
          </a:prstGeom>
          <a:solidFill>
            <a:srgbClr val="0D2847"/>
          </a:solidFill>
          <a:ln w="19050">
            <a:solidFill>
              <a:srgbClr val="FFD54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00400" y="960120"/>
            <a:ext cx="27432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37560" y="1097280"/>
            <a:ext cx="457200" cy="457200"/>
          </a:xfrm>
          <a:prstGeom prst="rect">
            <a:avLst/>
          </a:prstGeom>
          <a:solidFill>
            <a:srgbClr val="FFD54F">
              <a:alpha val="20000"/>
            </a:srgbClr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375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15568"/>
            <a:ext cx="420624" cy="42062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337560" y="166420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CBM Production &amp; Potential Analysis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3337560" y="2423160"/>
            <a:ext cx="2468880" cy="0"/>
          </a:xfrm>
          <a:prstGeom prst="line">
            <a:avLst/>
          </a:prstGeom>
          <a:noFill/>
          <a:ln w="12700">
            <a:solidFill>
              <a:srgbClr val="1E407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337560" y="2487168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Comparative dashboard with well filters and date slicers showing actual vs potential production with key metric: 92 SCMD peak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10128" y="4206240"/>
            <a:ext cx="804672" cy="228600"/>
          </a:xfrm>
          <a:prstGeom prst="rect">
            <a:avLst/>
          </a:prstGeom>
          <a:solidFill>
            <a:srgbClr val="FFD54F">
              <a:alpha val="25000"/>
            </a:srgbClr>
          </a:solidFill>
          <a:ln w="9525">
            <a:solidFill>
              <a:srgbClr val="FFD54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310128" y="4206240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4197096" y="4206240"/>
            <a:ext cx="804672" cy="228600"/>
          </a:xfrm>
          <a:prstGeom prst="rect">
            <a:avLst/>
          </a:prstGeom>
          <a:solidFill>
            <a:srgbClr val="FFD54F">
              <a:alpha val="25000"/>
            </a:srgbClr>
          </a:solidFill>
          <a:ln w="9525">
            <a:solidFill>
              <a:srgbClr val="FFD54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197096" y="4206240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OpenPyXL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5084064" y="4206240"/>
            <a:ext cx="804672" cy="228600"/>
          </a:xfrm>
          <a:prstGeom prst="rect">
            <a:avLst/>
          </a:prstGeom>
          <a:solidFill>
            <a:srgbClr val="FFD54F">
              <a:alpha val="25000"/>
            </a:srgbClr>
          </a:solidFill>
          <a:ln w="9525">
            <a:solidFill>
              <a:srgbClr val="FFD54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084064" y="4206240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6126480" y="960120"/>
            <a:ext cx="2743200" cy="3611880"/>
          </a:xfrm>
          <a:prstGeom prst="rect">
            <a:avLst/>
          </a:prstGeom>
          <a:solidFill>
            <a:srgbClr val="0D2847"/>
          </a:solidFill>
          <a:ln w="19050">
            <a:solidFill>
              <a:srgbClr val="7C4D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126480" y="960120"/>
            <a:ext cx="2743200" cy="5486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263640" y="1097280"/>
            <a:ext cx="457200" cy="457200"/>
          </a:xfrm>
          <a:prstGeom prst="rect">
            <a:avLst/>
          </a:prstGeom>
          <a:solidFill>
            <a:srgbClr val="7C4DFF">
              <a:alpha val="2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2636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115568"/>
            <a:ext cx="420624" cy="420624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263640" y="166420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Hidden Pattern Detection App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6263640" y="2423160"/>
            <a:ext cx="2468880" cy="0"/>
          </a:xfrm>
          <a:prstGeom prst="line">
            <a:avLst/>
          </a:prstGeom>
          <a:noFill/>
          <a:ln w="12700">
            <a:solidFill>
              <a:srgbClr val="1E407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263640" y="2487168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ML-based anomaly detection application using Isolation Forest &amp; LOF algorithms with Tkinter GUI for proactive decision-making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6236208" y="4206240"/>
            <a:ext cx="804672" cy="228600"/>
          </a:xfrm>
          <a:prstGeom prst="rect">
            <a:avLst/>
          </a:prstGeom>
          <a:solidFill>
            <a:srgbClr val="7C4DFF">
              <a:alpha val="25000"/>
            </a:srgbClr>
          </a:solidFill>
          <a:ln w="9525">
            <a:solidFill>
              <a:srgbClr val="7C4DFF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236208" y="4206240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Scikit-learn</a:t>
            </a:r>
            <a:endParaRPr lang="en-US" sz="750" dirty="0"/>
          </a:p>
        </p:txBody>
      </p:sp>
      <p:sp>
        <p:nvSpPr>
          <p:cNvPr id="44" name="Shape 39"/>
          <p:cNvSpPr/>
          <p:nvPr/>
        </p:nvSpPr>
        <p:spPr>
          <a:xfrm>
            <a:off x="7123176" y="4206240"/>
            <a:ext cx="804672" cy="228600"/>
          </a:xfrm>
          <a:prstGeom prst="rect">
            <a:avLst/>
          </a:prstGeom>
          <a:solidFill>
            <a:srgbClr val="7C4DFF">
              <a:alpha val="25000"/>
            </a:srgbClr>
          </a:solidFill>
          <a:ln w="9525">
            <a:solidFill>
              <a:srgbClr val="7C4DFF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123176" y="4206240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Tkinter</a:t>
            </a:r>
            <a:endParaRPr lang="en-US" sz="750" dirty="0"/>
          </a:p>
        </p:txBody>
      </p:sp>
      <p:sp>
        <p:nvSpPr>
          <p:cNvPr id="46" name="Shape 41"/>
          <p:cNvSpPr/>
          <p:nvPr/>
        </p:nvSpPr>
        <p:spPr>
          <a:xfrm>
            <a:off x="8010144" y="4206240"/>
            <a:ext cx="804672" cy="228600"/>
          </a:xfrm>
          <a:prstGeom prst="rect">
            <a:avLst/>
          </a:prstGeom>
          <a:solidFill>
            <a:srgbClr val="7C4DFF">
              <a:alpha val="25000"/>
            </a:srgbClr>
          </a:solidFill>
          <a:ln w="9525">
            <a:solidFill>
              <a:srgbClr val="7C4DFF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010144" y="4206240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11680" y="54864"/>
            <a:ext cx="6675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 Production Monitoring Dashboard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3520440"/>
          </a:xfrm>
          <a:prstGeom prst="rect">
            <a:avLst/>
          </a:prstGeom>
          <a:solidFill>
            <a:srgbClr val="0D2847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3268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GAS PRODUCTION MONITORING DASHBOARD ]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444752"/>
            <a:ext cx="3931920" cy="36576"/>
          </a:xfrm>
          <a:prstGeom prst="rect">
            <a:avLst/>
          </a:prstGeom>
          <a:solidFill>
            <a:srgbClr val="1A3A60"/>
          </a:solidFill>
          <a:ln w="12700">
            <a:solidFill>
              <a:srgbClr val="1A3A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651760"/>
            <a:ext cx="228600" cy="-41148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182880" cy="20574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446020"/>
            <a:ext cx="365760" cy="34290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2788920"/>
            <a:ext cx="228600" cy="-41148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2377440"/>
            <a:ext cx="274320" cy="34290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2720340"/>
            <a:ext cx="274320" cy="-27432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5960" y="2446020"/>
            <a:ext cx="274320" cy="48006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40280" y="2926080"/>
            <a:ext cx="274320" cy="-34290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2583180"/>
            <a:ext cx="274320" cy="20574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8920" y="2788920"/>
            <a:ext cx="274320" cy="-27432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63240" y="2514600"/>
            <a:ext cx="274320" cy="34290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2857500"/>
            <a:ext cx="274320" cy="-20574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11880" y="2651760"/>
            <a:ext cx="274320" cy="34290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86200" y="2994660"/>
            <a:ext cx="274320" cy="-27432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255264"/>
            <a:ext cx="365760" cy="-164592"/>
          </a:xfrm>
          <a:prstGeom prst="line">
            <a:avLst/>
          </a:prstGeom>
          <a:noFill/>
          <a:ln w="25400">
            <a:solidFill>
              <a:srgbClr val="FFD5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3090672"/>
            <a:ext cx="365760" cy="109728"/>
          </a:xfrm>
          <a:prstGeom prst="line">
            <a:avLst/>
          </a:prstGeom>
          <a:noFill/>
          <a:ln w="25400">
            <a:solidFill>
              <a:srgbClr val="FFD5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" y="3200400"/>
            <a:ext cx="365760" cy="-274320"/>
          </a:xfrm>
          <a:prstGeom prst="line">
            <a:avLst/>
          </a:prstGeom>
          <a:noFill/>
          <a:ln w="25400">
            <a:solidFill>
              <a:srgbClr val="FFD5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08760" y="2926080"/>
            <a:ext cx="365760" cy="109728"/>
          </a:xfrm>
          <a:prstGeom prst="line">
            <a:avLst/>
          </a:prstGeom>
          <a:noFill/>
          <a:ln w="25400">
            <a:solidFill>
              <a:srgbClr val="FFD5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74520" y="3035808"/>
            <a:ext cx="365760" cy="-164592"/>
          </a:xfrm>
          <a:prstGeom prst="line">
            <a:avLst/>
          </a:prstGeom>
          <a:noFill/>
          <a:ln w="25400">
            <a:solidFill>
              <a:srgbClr val="FFD5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2871216"/>
            <a:ext cx="365760" cy="186538"/>
          </a:xfrm>
          <a:prstGeom prst="line">
            <a:avLst/>
          </a:prstGeom>
          <a:noFill/>
          <a:ln w="25400">
            <a:solidFill>
              <a:srgbClr val="FFD5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06040" y="3057754"/>
            <a:ext cx="365760" cy="-241402"/>
          </a:xfrm>
          <a:prstGeom prst="line">
            <a:avLst/>
          </a:prstGeom>
          <a:noFill/>
          <a:ln w="25400">
            <a:solidFill>
              <a:srgbClr val="FFD5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2816352"/>
            <a:ext cx="365760" cy="197510"/>
          </a:xfrm>
          <a:prstGeom prst="line">
            <a:avLst/>
          </a:prstGeom>
          <a:noFill/>
          <a:ln w="25400">
            <a:solidFill>
              <a:srgbClr val="FFD54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3013862"/>
            <a:ext cx="365760" cy="-142646"/>
          </a:xfrm>
          <a:prstGeom prst="line">
            <a:avLst/>
          </a:prstGeom>
          <a:noFill/>
          <a:ln w="25400">
            <a:solidFill>
              <a:srgbClr val="FFD54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03320" y="2871216"/>
            <a:ext cx="365760" cy="274320"/>
          </a:xfrm>
          <a:prstGeom prst="line">
            <a:avLst/>
          </a:prstGeom>
          <a:noFill/>
          <a:ln w="25400">
            <a:solidFill>
              <a:srgbClr val="FFD5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20624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Series  ▬ GGS Production   ▬ Feeder Flow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617720" y="960120"/>
            <a:ext cx="4251960" cy="896112"/>
          </a:xfrm>
          <a:prstGeom prst="rect">
            <a:avLst/>
          </a:prstGeom>
          <a:solidFill>
            <a:srgbClr val="0D2847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960120"/>
            <a:ext cx="64008" cy="89611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10332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82312" y="1234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Difficulty tracking gas production trends across multiple wells and field segments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17720" y="2011680"/>
            <a:ext cx="4251960" cy="896112"/>
          </a:xfrm>
          <a:prstGeom prst="rect">
            <a:avLst/>
          </a:prstGeom>
          <a:solidFill>
            <a:srgbClr val="0D2847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2011680"/>
            <a:ext cx="64008" cy="89611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82312" y="20848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82312" y="2286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interactive dashboard with time-series visualization and dynamic filters (GGS, feeder, trunkline, WGS)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17720" y="3063240"/>
            <a:ext cx="4251960" cy="896112"/>
          </a:xfrm>
          <a:prstGeom prst="rect">
            <a:avLst/>
          </a:prstGeom>
          <a:solidFill>
            <a:srgbClr val="0D2847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17720" y="3063240"/>
            <a:ext cx="64008" cy="89611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82312" y="31363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82312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 ·  Pandas  ·  Power BI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17720" y="4114800"/>
            <a:ext cx="4251960" cy="896112"/>
          </a:xfrm>
          <a:prstGeom prst="rect">
            <a:avLst/>
          </a:prstGeom>
          <a:solidFill>
            <a:srgbClr val="0D2847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17720" y="4114800"/>
            <a:ext cx="64008" cy="8961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82312" y="41879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82312" y="4389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Identified production trends, seasonal fluctuations, and operational patterns across field segments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11680" y="54864"/>
            <a:ext cx="6675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CBM Production &amp; Potential Analysis Dashboard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3520440"/>
          </a:xfrm>
          <a:prstGeom prst="rect">
            <a:avLst/>
          </a:prstGeom>
          <a:solidFill>
            <a:srgbClr val="0E1A10"/>
          </a:solidFill>
          <a:ln w="19050">
            <a:solidFill>
              <a:srgbClr val="FFD54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162010"/>
          </a:solidFill>
          <a:ln w="12700">
            <a:solidFill>
              <a:srgbClr val="1620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326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CBM PRODUCTION &amp; POTENTIAL ANALYSIS 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 vs Potential — Production Gap per Well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3749040" cy="0"/>
          </a:xfrm>
          <a:prstGeom prst="line">
            <a:avLst/>
          </a:prstGeom>
          <a:noFill/>
          <a:ln w="12700">
            <a:solidFill>
              <a:srgbClr val="B0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95351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02920" y="2075688"/>
            <a:ext cx="329184" cy="987552"/>
          </a:xfrm>
          <a:prstGeom prst="rect">
            <a:avLst/>
          </a:prstGeom>
          <a:solidFill>
            <a:srgbClr val="00C896">
              <a:alpha val="80000"/>
            </a:srgbClr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74520"/>
            <a:ext cx="420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+72%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02920" y="3136392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W1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960120" y="3063240"/>
            <a:ext cx="329184" cy="754380"/>
          </a:xfrm>
          <a:prstGeom prst="rect">
            <a:avLst/>
          </a:prstGeom>
          <a:solidFill>
            <a:srgbClr val="FF5555">
              <a:alpha val="80000"/>
            </a:srgbClr>
          </a:solidFill>
          <a:ln w="6350">
            <a:solidFill>
              <a:srgbClr val="FF5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845052"/>
            <a:ext cx="420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-55%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960120" y="3136392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W2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1417320" y="2542032"/>
            <a:ext cx="329184" cy="521208"/>
          </a:xfrm>
          <a:prstGeom prst="rect">
            <a:avLst/>
          </a:prstGeom>
          <a:solidFill>
            <a:srgbClr val="00C896">
              <a:alpha val="80000"/>
            </a:srgbClr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340864"/>
            <a:ext cx="420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+38%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417320" y="3136392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W3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1874520" y="3063240"/>
            <a:ext cx="329184" cy="1124712"/>
          </a:xfrm>
          <a:prstGeom prst="rect">
            <a:avLst/>
          </a:prstGeom>
          <a:solidFill>
            <a:srgbClr val="FF5555">
              <a:alpha val="80000"/>
            </a:srgbClr>
          </a:solidFill>
          <a:ln w="6350">
            <a:solidFill>
              <a:srgbClr val="FF5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4215384"/>
            <a:ext cx="420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-82%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874520" y="3136392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W4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331720" y="2240280"/>
            <a:ext cx="329184" cy="822960"/>
          </a:xfrm>
          <a:prstGeom prst="rect">
            <a:avLst/>
          </a:prstGeom>
          <a:solidFill>
            <a:srgbClr val="00C896">
              <a:alpha val="80000"/>
            </a:srgbClr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2039112"/>
            <a:ext cx="420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+60%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331720" y="3136392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W5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2788920" y="3063240"/>
            <a:ext cx="329184" cy="411480"/>
          </a:xfrm>
          <a:prstGeom prst="rect">
            <a:avLst/>
          </a:prstGeom>
          <a:solidFill>
            <a:srgbClr val="FF5555">
              <a:alpha val="80000"/>
            </a:srgbClr>
          </a:solidFill>
          <a:ln w="6350">
            <a:solidFill>
              <a:srgbClr val="FF55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3502152"/>
            <a:ext cx="420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-30%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788920" y="3136392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W6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246120" y="2404872"/>
            <a:ext cx="329184" cy="658368"/>
          </a:xfrm>
          <a:prstGeom prst="rect">
            <a:avLst/>
          </a:prstGeom>
          <a:solidFill>
            <a:srgbClr val="00C896">
              <a:alpha val="80000"/>
            </a:srgbClr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2203704"/>
            <a:ext cx="420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+48%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246120" y="3136392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W7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703320" y="3063240"/>
            <a:ext cx="329184" cy="891540"/>
          </a:xfrm>
          <a:prstGeom prst="rect">
            <a:avLst/>
          </a:prstGeom>
          <a:solidFill>
            <a:srgbClr val="FF5555">
              <a:alpha val="80000"/>
            </a:srgbClr>
          </a:solidFill>
          <a:ln w="6350">
            <a:solidFill>
              <a:srgbClr val="FF55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3982212"/>
            <a:ext cx="420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-65%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703320" y="3136392"/>
            <a:ext cx="329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W8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48640" y="4224528"/>
            <a:ext cx="164592" cy="1097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4206240"/>
            <a:ext cx="1737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Surplus (Actual &gt; Potential)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2514600" y="4224528"/>
            <a:ext cx="164592" cy="109728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15768" y="4206240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Deficit (Actual &lt; Potential)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617720" y="960120"/>
            <a:ext cx="4251960" cy="896112"/>
          </a:xfrm>
          <a:prstGeom prst="rect">
            <a:avLst/>
          </a:prstGeom>
          <a:solidFill>
            <a:srgbClr val="0D2847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960120"/>
            <a:ext cx="64008" cy="89611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10332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82312" y="1234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Lack of clarity in comparing actual production vs potential across wells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17720" y="2011680"/>
            <a:ext cx="4251960" cy="896112"/>
          </a:xfrm>
          <a:prstGeom prst="rect">
            <a:avLst/>
          </a:prstGeom>
          <a:solidFill>
            <a:srgbClr val="0D2847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17720" y="2011680"/>
            <a:ext cx="64008" cy="89611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82312" y="20848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82312" y="2286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with well filters, date slicers, and bar chart for actual vs potential comparison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17720" y="3063240"/>
            <a:ext cx="4251960" cy="896112"/>
          </a:xfrm>
          <a:prstGeom prst="rect">
            <a:avLst/>
          </a:prstGeom>
          <a:solidFill>
            <a:srgbClr val="0D2847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17720" y="3063240"/>
            <a:ext cx="64008" cy="89611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82312" y="31363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82312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 ·  Pandas  ·  Power BI  ·  OpenPyXL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17720" y="4114800"/>
            <a:ext cx="4251960" cy="896112"/>
          </a:xfrm>
          <a:prstGeom prst="rect">
            <a:avLst/>
          </a:prstGeom>
          <a:solidFill>
            <a:srgbClr val="0D2847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617720" y="4114800"/>
            <a:ext cx="64008" cy="8961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82312" y="41879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782312" y="4389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Identified wells with production surplus and deficit · Highlighted performance gaps for targeted intervention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39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11680" y="54864"/>
            <a:ext cx="6675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Hidden Pattern Detection Application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3520440"/>
          </a:xfrm>
          <a:prstGeom prst="rect">
            <a:avLst/>
          </a:prstGeom>
          <a:solidFill>
            <a:srgbClr val="050D1A"/>
          </a:solidFill>
          <a:ln w="19050">
            <a:solidFill>
              <a:srgbClr val="7C4DFF"/>
            </a:solidFill>
            <a:prstDash val="solid"/>
          </a:ln>
          <a:effectLst>
            <a:outerShdw sx="100000" sy="100000" kx="0" ky="0" algn="bl" rotWithShape="0" blurRad="203200" dist="50800" dir="16200000">
              <a:srgbClr val="7C4DFF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0D0820"/>
          </a:solidFill>
          <a:ln w="12700">
            <a:solidFill>
              <a:srgbClr val="0D08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326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39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HIDDEN PATTERN DETECTION APP ]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544061" y="3163824"/>
            <a:ext cx="73152" cy="73152"/>
          </a:xfrm>
          <a:prstGeom prst="ellipse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40455" y="3266540"/>
            <a:ext cx="73152" cy="73152"/>
          </a:xfrm>
          <a:prstGeom prst="ellipse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35024" y="3287244"/>
            <a:ext cx="73152" cy="73152"/>
          </a:xfrm>
          <a:prstGeom prst="ellipse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6252" y="3248210"/>
            <a:ext cx="73152" cy="73152"/>
          </a:xfrm>
          <a:prstGeom prst="ellipse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7121" y="3163824"/>
            <a:ext cx="73152" cy="73152"/>
          </a:xfrm>
          <a:prstGeom prst="ellipse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1946" y="3062285"/>
            <a:ext cx="73152" cy="73152"/>
          </a:xfrm>
          <a:prstGeom prst="ellipse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35024" y="3040121"/>
            <a:ext cx="73152" cy="73152"/>
          </a:xfrm>
          <a:prstGeom prst="ellipse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4669" y="3029001"/>
            <a:ext cx="73152" cy="73152"/>
          </a:xfrm>
          <a:prstGeom prst="ellipse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56486" y="2889504"/>
            <a:ext cx="73152" cy="73152"/>
          </a:xfrm>
          <a:prstGeom prst="ellipse">
            <a:avLst/>
          </a:prstGeom>
          <a:solidFill>
            <a:srgbClr val="7C4DFF">
              <a:alpha val="7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38772" y="3009858"/>
            <a:ext cx="73152" cy="73152"/>
          </a:xfrm>
          <a:prstGeom prst="ellipse">
            <a:avLst/>
          </a:prstGeom>
          <a:solidFill>
            <a:srgbClr val="7C4DFF">
              <a:alpha val="7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98064" y="2981729"/>
            <a:ext cx="73152" cy="73152"/>
          </a:xfrm>
          <a:prstGeom prst="ellipse">
            <a:avLst/>
          </a:prstGeom>
          <a:solidFill>
            <a:srgbClr val="7C4DFF">
              <a:alpha val="7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38275" y="3019398"/>
            <a:ext cx="73152" cy="73152"/>
          </a:xfrm>
          <a:prstGeom prst="ellipse">
            <a:avLst/>
          </a:prstGeom>
          <a:solidFill>
            <a:srgbClr val="7C4DFF">
              <a:alpha val="7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97503" y="2889504"/>
            <a:ext cx="73152" cy="73152"/>
          </a:xfrm>
          <a:prstGeom prst="ellipse">
            <a:avLst/>
          </a:prstGeom>
          <a:solidFill>
            <a:srgbClr val="7C4DFF">
              <a:alpha val="7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6042" y="2768493"/>
            <a:ext cx="73152" cy="73152"/>
          </a:xfrm>
          <a:prstGeom prst="ellipse">
            <a:avLst/>
          </a:prstGeom>
          <a:solidFill>
            <a:srgbClr val="7C4DFF">
              <a:alpha val="7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98064" y="2689742"/>
            <a:ext cx="73152" cy="73152"/>
          </a:xfrm>
          <a:prstGeom prst="ellipse">
            <a:avLst/>
          </a:prstGeom>
          <a:solidFill>
            <a:srgbClr val="7C4DFF">
              <a:alpha val="7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28854" y="2774109"/>
            <a:ext cx="73152" cy="73152"/>
          </a:xfrm>
          <a:prstGeom prst="ellipse">
            <a:avLst/>
          </a:prstGeom>
          <a:solidFill>
            <a:srgbClr val="7C4DFF">
              <a:alpha val="7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30637" y="4078224"/>
            <a:ext cx="73152" cy="73152"/>
          </a:xfrm>
          <a:prstGeom prst="ellipse">
            <a:avLst/>
          </a:prstGeom>
          <a:solidFill>
            <a:srgbClr val="00C896">
              <a:alpha val="7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97249" y="4185016"/>
            <a:ext cx="73152" cy="73152"/>
          </a:xfrm>
          <a:prstGeom prst="ellipse">
            <a:avLst/>
          </a:prstGeom>
          <a:solidFill>
            <a:srgbClr val="00C896">
              <a:alpha val="7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83664" y="4168852"/>
            <a:ext cx="73152" cy="73152"/>
          </a:xfrm>
          <a:prstGeom prst="ellipse">
            <a:avLst/>
          </a:prstGeom>
          <a:solidFill>
            <a:srgbClr val="00C896">
              <a:alpha val="7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81917" y="4129098"/>
            <a:ext cx="73152" cy="73152"/>
          </a:xfrm>
          <a:prstGeom prst="ellipse">
            <a:avLst/>
          </a:prstGeom>
          <a:solidFill>
            <a:srgbClr val="00C896">
              <a:alpha val="7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64199" y="4078224"/>
            <a:ext cx="73152" cy="73152"/>
          </a:xfrm>
          <a:prstGeom prst="ellipse">
            <a:avLst/>
          </a:prstGeom>
          <a:solidFill>
            <a:srgbClr val="00C896">
              <a:alpha val="7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39381" y="3956083"/>
            <a:ext cx="73152" cy="73152"/>
          </a:xfrm>
          <a:prstGeom prst="ellipse">
            <a:avLst/>
          </a:prstGeom>
          <a:solidFill>
            <a:srgbClr val="00C896">
              <a:alpha val="7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83664" y="3946459"/>
            <a:ext cx="73152" cy="73152"/>
          </a:xfrm>
          <a:prstGeom prst="ellipse">
            <a:avLst/>
          </a:prstGeom>
          <a:solidFill>
            <a:srgbClr val="00C896">
              <a:alpha val="7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91554" y="3974279"/>
            <a:ext cx="73152" cy="73152"/>
          </a:xfrm>
          <a:prstGeom prst="ellipse">
            <a:avLst/>
          </a:prstGeom>
          <a:solidFill>
            <a:srgbClr val="00C896">
              <a:alpha val="7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10128" y="2487168"/>
            <a:ext cx="146304" cy="146304"/>
          </a:xfrm>
          <a:prstGeom prst="ellipse">
            <a:avLst/>
          </a:prstGeom>
          <a:solidFill>
            <a:srgbClr val="FF4444"/>
          </a:solidFill>
          <a:ln w="19050">
            <a:solidFill>
              <a:srgbClr val="FF66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" y="4041648"/>
            <a:ext cx="146304" cy="146304"/>
          </a:xfrm>
          <a:prstGeom prst="ellipse">
            <a:avLst/>
          </a:prstGeom>
          <a:solidFill>
            <a:srgbClr val="FF4444"/>
          </a:solidFill>
          <a:ln w="19050">
            <a:solidFill>
              <a:srgbClr val="FF66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44368" y="3858768"/>
            <a:ext cx="146304" cy="146304"/>
          </a:xfrm>
          <a:prstGeom prst="ellipse">
            <a:avLst/>
          </a:prstGeom>
          <a:solidFill>
            <a:srgbClr val="FF4444"/>
          </a:solidFill>
          <a:ln w="19050">
            <a:solidFill>
              <a:srgbClr val="FF66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206240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187952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 Wells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828800" y="4206240"/>
            <a:ext cx="91440" cy="9144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65960" y="4187952"/>
            <a:ext cx="10972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Anomalies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17720" y="960120"/>
            <a:ext cx="4251960" cy="896112"/>
          </a:xfrm>
          <a:prstGeom prst="rect">
            <a:avLst/>
          </a:prstGeom>
          <a:solidFill>
            <a:srgbClr val="0D2847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960120"/>
            <a:ext cx="64008" cy="89611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10332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82312" y="1234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anomaly detection was time-consuming and prone to human error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17720" y="2011680"/>
            <a:ext cx="4251960" cy="896112"/>
          </a:xfrm>
          <a:prstGeom prst="rect">
            <a:avLst/>
          </a:prstGeom>
          <a:solidFill>
            <a:srgbClr val="0D2847"/>
          </a:solidFill>
          <a:ln w="12700">
            <a:solidFill>
              <a:srgbClr val="B39D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17720" y="2011680"/>
            <a:ext cx="64008" cy="896112"/>
          </a:xfrm>
          <a:prstGeom prst="rect">
            <a:avLst/>
          </a:prstGeom>
          <a:solidFill>
            <a:srgbClr val="B39DFF"/>
          </a:solidFill>
          <a:ln w="12700">
            <a:solidFill>
              <a:srgbClr val="B39D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82312" y="20848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39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82312" y="2286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ML-based detection using Isolation Forest and LOF algorithms with Tkinter GUI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17720" y="3063240"/>
            <a:ext cx="4251960" cy="896112"/>
          </a:xfrm>
          <a:prstGeom prst="rect">
            <a:avLst/>
          </a:prstGeom>
          <a:solidFill>
            <a:srgbClr val="0D2847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17720" y="3063240"/>
            <a:ext cx="64008" cy="89611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82312" y="31363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82312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 ·  Scikit-learn  ·  Tkinter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17720" y="4114800"/>
            <a:ext cx="4251960" cy="896112"/>
          </a:xfrm>
          <a:prstGeom prst="rect">
            <a:avLst/>
          </a:prstGeom>
          <a:solidFill>
            <a:srgbClr val="0D2847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617720" y="4114800"/>
            <a:ext cx="64008" cy="8961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82312" y="41879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782312" y="4389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Detected anomalous wells and hidden production patterns · Enabled proactive decision-making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LEARNINGS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069080" cy="1691640"/>
          </a:xfrm>
          <a:prstGeom prst="rect">
            <a:avLst/>
          </a:prstGeom>
          <a:solidFill>
            <a:srgbClr val="0D2847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06908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61288"/>
            <a:ext cx="640080" cy="64008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1612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Visualization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856232"/>
            <a:ext cx="3703320" cy="0"/>
          </a:xfrm>
          <a:prstGeom prst="line">
            <a:avLst/>
          </a:prstGeom>
          <a:noFill/>
          <a:ln w="9525">
            <a:solidFill>
              <a:srgbClr val="1E4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Mastered Power BI, Matplotlib, and interactive chart design for industrial dashboards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069080" cy="1691640"/>
          </a:xfrm>
          <a:prstGeom prst="rect">
            <a:avLst/>
          </a:prstGeom>
          <a:solidFill>
            <a:srgbClr val="0D2847"/>
          </a:solidFill>
          <a:ln w="19050">
            <a:solidFill>
              <a:srgbClr val="FFD54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60120"/>
            <a:ext cx="406908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161288"/>
            <a:ext cx="640080" cy="640080"/>
          </a:xfrm>
          <a:prstGeom prst="ellipse">
            <a:avLst/>
          </a:prstGeom>
          <a:solidFill>
            <a:srgbClr val="FFD54F">
              <a:alpha val="25000"/>
            </a:srgbClr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11612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Industrial Data Handling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92040" y="1856232"/>
            <a:ext cx="3703320" cy="0"/>
          </a:xfrm>
          <a:prstGeom prst="line">
            <a:avLst/>
          </a:prstGeom>
          <a:noFill/>
          <a:ln w="9525">
            <a:solidFill>
              <a:srgbClr val="1E4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92024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Gained hands-on experience processing real-world CBM production datasets at scale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4069080" cy="1691640"/>
          </a:xfrm>
          <a:prstGeom prst="rect">
            <a:avLst/>
          </a:prstGeom>
          <a:solidFill>
            <a:srgbClr val="0D2847"/>
          </a:solidFill>
          <a:ln w="19050">
            <a:solidFill>
              <a:srgbClr val="7C4D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17520"/>
            <a:ext cx="4069080" cy="5486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218688"/>
            <a:ext cx="640080" cy="640080"/>
          </a:xfrm>
          <a:prstGeom prst="ellipse">
            <a:avLst/>
          </a:prstGeom>
          <a:solidFill>
            <a:srgbClr val="7C4DFF">
              <a:alpha val="25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32186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Analytics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913632"/>
            <a:ext cx="3703320" cy="0"/>
          </a:xfrm>
          <a:prstGeom prst="line">
            <a:avLst/>
          </a:prstGeom>
          <a:noFill/>
          <a:ln w="9525">
            <a:solidFill>
              <a:srgbClr val="1E40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7764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Applied unsupervised ML (Isolation Forest, LOF) to solve real anomaly detection problems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017520"/>
            <a:ext cx="4069080" cy="1691640"/>
          </a:xfrm>
          <a:prstGeom prst="rect">
            <a:avLst/>
          </a:prstGeom>
          <a:solidFill>
            <a:srgbClr val="0D2847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017520"/>
            <a:ext cx="40690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3218688"/>
            <a:ext cx="640080" cy="640080"/>
          </a:xfrm>
          <a:prstGeom prst="ellipse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32186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Design Principles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92040" y="3913632"/>
            <a:ext cx="3703320" cy="0"/>
          </a:xfrm>
          <a:prstGeom prst="line">
            <a:avLst/>
          </a:prstGeom>
          <a:noFill/>
          <a:ln w="9525">
            <a:solidFill>
              <a:srgbClr val="1E40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97764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Learned UX principles for analytics dashboards: filters, slicers, KPIs, and visual hierarchy</a:t>
            </a:r>
            <a:endParaRPr lang="en-US" sz="11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310128"/>
            <a:ext cx="457200" cy="457200"/>
          </a:xfrm>
          <a:prstGeom prst="rect">
            <a:avLst/>
          </a:prstGeom>
        </p:spPr>
      </p:pic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52728"/>
            <a:ext cx="457200" cy="457200"/>
          </a:xfrm>
          <a:prstGeom prst="rect">
            <a:avLst/>
          </a:prstGeom>
        </p:spPr>
      </p:pic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310128"/>
            <a:ext cx="457200" cy="457200"/>
          </a:xfrm>
          <a:prstGeom prst="rect">
            <a:avLst/>
          </a:prstGeom>
        </p:spPr>
      </p:pic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252728"/>
            <a:ext cx="457200" cy="457200"/>
          </a:xfrm>
          <a:prstGeom prst="rect">
            <a:avLst/>
          </a:prstGeom>
        </p:spPr>
      </p:pic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1252728"/>
            <a:ext cx="457200" cy="457200"/>
          </a:xfrm>
          <a:prstGeom prst="rect">
            <a:avLst/>
          </a:prstGeom>
        </p:spPr>
      </p:pic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1252728"/>
            <a:ext cx="457200" cy="457200"/>
          </a:xfrm>
          <a:prstGeom prst="rect">
            <a:avLst/>
          </a:prstGeom>
        </p:spPr>
      </p:pic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310128"/>
            <a:ext cx="457200" cy="457200"/>
          </a:xfrm>
          <a:prstGeom prst="rect">
            <a:avLst/>
          </a:prstGeom>
        </p:spPr>
      </p:pic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310128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91A30"/>
          </a:solidFill>
          <a:ln w="12700">
            <a:solidFill>
              <a:srgbClr val="091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486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0040" y="960120"/>
            <a:ext cx="2697480" cy="3520440"/>
          </a:xfrm>
          <a:prstGeom prst="rect">
            <a:avLst/>
          </a:prstGeom>
          <a:solidFill>
            <a:srgbClr val="0D2847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960120"/>
            <a:ext cx="269748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03020" y="1143000"/>
            <a:ext cx="731520" cy="731520"/>
          </a:xfrm>
          <a:prstGeom prst="ellipse">
            <a:avLst/>
          </a:prstGeom>
          <a:solidFill>
            <a:srgbClr val="00E5FF">
              <a:alpha val="20000"/>
            </a:srgbClr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1234440"/>
            <a:ext cx="548640" cy="5486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" y="20299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Dashboards Delivered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4360" y="2487168"/>
            <a:ext cx="2148840" cy="0"/>
          </a:xfrm>
          <a:prstGeom prst="line">
            <a:avLst/>
          </a:prstGeom>
          <a:noFill/>
          <a:ln w="12700">
            <a:solidFill>
              <a:srgbClr val="1E407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578608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Successfully built Gas Production Monitoring and CBM Production &amp; Potential Analysis dashboards using Power BI + Python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0" y="960120"/>
            <a:ext cx="2697480" cy="3520440"/>
          </a:xfrm>
          <a:prstGeom prst="rect">
            <a:avLst/>
          </a:prstGeom>
          <a:solidFill>
            <a:srgbClr val="0D2847"/>
          </a:solidFill>
          <a:ln w="19050">
            <a:solidFill>
              <a:srgbClr val="FFD54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00400" y="960120"/>
            <a:ext cx="269748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83380" y="1143000"/>
            <a:ext cx="731520" cy="731520"/>
          </a:xfrm>
          <a:prstGeom prst="ellipse">
            <a:avLst/>
          </a:prstGeom>
          <a:solidFill>
            <a:srgbClr val="FFD54F">
              <a:alpha val="20000"/>
            </a:srgbClr>
          </a:solidFill>
          <a:ln w="19050">
            <a:solidFill>
              <a:srgbClr val="FFD54F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20" y="1234440"/>
            <a:ext cx="548640" cy="5486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337560" y="20299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Exposure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3474720" y="2487168"/>
            <a:ext cx="2148840" cy="0"/>
          </a:xfrm>
          <a:prstGeom prst="line">
            <a:avLst/>
          </a:prstGeom>
          <a:noFill/>
          <a:ln w="12700">
            <a:solidFill>
              <a:srgbClr val="1E407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37560" y="2578608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Gained real-world experience in CBM analytics at Reliance Industries — one of India's largest energy companies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080760" y="960120"/>
            <a:ext cx="2697480" cy="3520440"/>
          </a:xfrm>
          <a:prstGeom prst="rect">
            <a:avLst/>
          </a:prstGeom>
          <a:solidFill>
            <a:srgbClr val="0D2847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080760" y="960120"/>
            <a:ext cx="26974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063740" y="1143000"/>
            <a:ext cx="731520" cy="731520"/>
          </a:xfrm>
          <a:prstGeom prst="ellipse">
            <a:avLst/>
          </a:prstGeom>
          <a:solidFill>
            <a:srgbClr val="00C896">
              <a:alpha val="20000"/>
            </a:srgbClr>
          </a:solidFill>
          <a:ln w="19050">
            <a:solidFill>
              <a:srgbClr val="00C896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1234440"/>
            <a:ext cx="548640" cy="54864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217920" y="20299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Developed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6355080" y="2487168"/>
            <a:ext cx="2148840" cy="0"/>
          </a:xfrm>
          <a:prstGeom prst="line">
            <a:avLst/>
          </a:prstGeom>
          <a:noFill/>
          <a:ln w="12700">
            <a:solidFill>
              <a:srgbClr val="1E407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217920" y="2578608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Improved analytical, problem-solving, and ML application development skills in an industrial environment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15400" y="0"/>
            <a:ext cx="0" cy="5143500"/>
          </a:xfrm>
          <a:prstGeom prst="line">
            <a:avLst/>
          </a:prstGeom>
          <a:noFill/>
          <a:ln w="6350">
            <a:solidFill>
              <a:srgbClr val="1A3A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0" y="777240"/>
            <a:ext cx="5486400" cy="3566160"/>
          </a:xfrm>
          <a:prstGeom prst="rect">
            <a:avLst/>
          </a:prstGeom>
          <a:solidFill>
            <a:srgbClr val="0D2847">
              <a:alpha val="80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203200" dist="50800" dir="16200000">
              <a:srgbClr val="00E5FF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828800" y="777240"/>
            <a:ext cx="228600" cy="2286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86600" y="777240"/>
            <a:ext cx="228600" cy="2286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0" y="4114800"/>
            <a:ext cx="228600" cy="22860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86600" y="4114800"/>
            <a:ext cx="228600" cy="22860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0" y="10058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1828800" y="2103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your attention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2743200" y="2788920"/>
            <a:ext cx="3657600" cy="0"/>
          </a:xfrm>
          <a:prstGeom prst="line">
            <a:avLst/>
          </a:prstGeom>
          <a:noFill/>
          <a:ln w="19050">
            <a:solidFill>
              <a:srgbClr val="FFD5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0" y="2926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Starina Phillips  |  M.Tech CSE  |  Christ University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828800" y="32186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Analytics Intern  |  Reliance Industries Limited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28800" y="35661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Guided by: Vivek K Agarwal  |  TL – Operations, RIL CBM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Report - Starina Phillips</dc:title>
  <dc:subject>PptxGenJS Presentation</dc:subject>
  <dc:creator>PptxGenJS</dc:creator>
  <cp:lastModifiedBy>PptxGenJS</cp:lastModifiedBy>
  <cp:revision>1</cp:revision>
  <dcterms:created xsi:type="dcterms:W3CDTF">2026-05-05T05:46:13Z</dcterms:created>
  <dcterms:modified xsi:type="dcterms:W3CDTF">2026-05-05T05:46:13Z</dcterms:modified>
</cp:coreProperties>
</file>